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69" r:id="rId17"/>
    <p:sldId id="274" r:id="rId18"/>
    <p:sldId id="287" r:id="rId19"/>
    <p:sldId id="288" r:id="rId20"/>
    <p:sldId id="289" r:id="rId21"/>
    <p:sldId id="275" r:id="rId22"/>
    <p:sldId id="276" r:id="rId23"/>
    <p:sldId id="286" r:id="rId24"/>
    <p:sldId id="279" r:id="rId25"/>
    <p:sldId id="280" r:id="rId26"/>
    <p:sldId id="281" r:id="rId27"/>
    <p:sldId id="282" r:id="rId28"/>
    <p:sldId id="283" r:id="rId29"/>
    <p:sldId id="270" r:id="rId30"/>
    <p:sldId id="284" r:id="rId31"/>
    <p:sldId id="285" r:id="rId32"/>
    <p:sldId id="290" r:id="rId33"/>
    <p:sldId id="271" r:id="rId34"/>
    <p:sldId id="272" r:id="rId3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>
            <a:normAutofit/>
          </a:bodyPr>
          <a:lstStyle/>
          <a:p>
            <a:r>
              <a:rPr lang="en-GB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B70913C6-47CA-484B-990F-BAD587151A34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GB" sz="10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rmAutofit fontScale="97000"/>
          </a:bodyPr>
          <a:lstStyle/>
          <a:p>
            <a:r>
              <a:rPr lang="en-GB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tIns="91440" bIns="9144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4CC1DD2D-E3E4-433E-BF78-E694CA297119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GB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311760" y="744480"/>
            <a:ext cx="8520120" cy="8942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rmAutofit fontScale="94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IN" sz="5200" b="0" strike="noStrike" spc="-1">
                <a:solidFill>
                  <a:srgbClr val="000000"/>
                </a:solidFill>
                <a:latin typeface="Arial"/>
                <a:ea typeface="Arial"/>
              </a:rPr>
              <a:t>MockMate AI</a:t>
            </a:r>
            <a:endParaRPr lang="en-GB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311760" y="1834200"/>
            <a:ext cx="8520120" cy="2714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53500" lnSpcReduction="2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Group members:</a:t>
            </a:r>
            <a:endParaRPr lang="en-GB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marL="457200" indent="-342720"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484237"/>
                </a:solidFill>
                <a:latin typeface="Gelasio Semi Bold"/>
                <a:ea typeface="Gelasio Semi Bold"/>
              </a:rPr>
              <a:t>ALTAMASH CHOUGLE - 5</a:t>
            </a:r>
            <a:endParaRPr lang="en-GB" sz="2800" b="0" strike="noStrike" spc="-1">
              <a:latin typeface="Arial"/>
            </a:endParaRPr>
          </a:p>
          <a:p>
            <a:pPr marL="457200" indent="-342720"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marL="457200" indent="-342720"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484237"/>
                </a:solidFill>
                <a:latin typeface="Gelasio Semi Bold"/>
                <a:ea typeface="Gelasio Semi Bold"/>
              </a:rPr>
              <a:t>ATHARVA HARANE - 15</a:t>
            </a:r>
            <a:endParaRPr lang="en-GB" sz="2800" b="0" strike="noStrike" spc="-1">
              <a:latin typeface="Arial"/>
            </a:endParaRPr>
          </a:p>
          <a:p>
            <a:pPr marL="457200" indent="-342720"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marL="457200" indent="-342720"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484237"/>
                </a:solidFill>
                <a:latin typeface="Gelasio Semi Bold"/>
                <a:ea typeface="Gelasio Semi Bold"/>
              </a:rPr>
              <a:t>DARSH KAMBLE - 23</a:t>
            </a:r>
            <a:endParaRPr lang="en-GB" sz="2800" b="0" strike="noStrike" spc="-1">
              <a:latin typeface="Arial"/>
            </a:endParaRPr>
          </a:p>
          <a:p>
            <a:pPr marL="457200" indent="-342720"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marL="457200" indent="-342720" algn="ctr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484237"/>
                </a:solidFill>
                <a:latin typeface="Gelasio Semi Bold"/>
                <a:ea typeface="Gelasio Semi Bold"/>
              </a:rPr>
              <a:t>SNEHA SINGH - 64</a:t>
            </a:r>
            <a:endParaRPr lang="en-GB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Guide: Dr. A. R. Sonule </a:t>
            </a:r>
            <a:endParaRPr lang="en-GB" sz="2800" b="0" strike="noStrike" spc="-1">
              <a:latin typeface="Arial"/>
            </a:endParaRPr>
          </a:p>
        </p:txBody>
      </p:sp>
      <p:pic>
        <p:nvPicPr>
          <p:cNvPr id="80" name="Google Shape;56;p13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237240" y="258840"/>
            <a:ext cx="8520120" cy="6354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rmAutofit fontScale="69500" lnSpcReduction="2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5200" b="0" strike="noStrike" spc="-1">
                <a:solidFill>
                  <a:srgbClr val="000000"/>
                </a:solidFill>
                <a:latin typeface="Arial"/>
                <a:ea typeface="Arial"/>
              </a:rPr>
              <a:t>Outline</a:t>
            </a:r>
            <a:endParaRPr lang="en-GB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311760" y="894600"/>
            <a:ext cx="8520120" cy="417672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Introduction</a:t>
            </a:r>
            <a:endParaRPr lang="en-GB" sz="2800" b="0" strike="noStrike" spc="-1" dirty="0">
              <a:latin typeface="Arial"/>
            </a:endParaRP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Literature Survey</a:t>
            </a:r>
            <a:endParaRPr lang="en-GB" sz="2800" b="0" strike="noStrike" spc="-1" dirty="0">
              <a:latin typeface="Arial"/>
            </a:endParaRP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Research Gap</a:t>
            </a:r>
            <a:endParaRPr lang="en-GB" sz="2800" b="0" strike="noStrike" spc="-1" dirty="0">
              <a:latin typeface="Arial"/>
            </a:endParaRP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Problem Statement</a:t>
            </a:r>
            <a:endParaRPr lang="en-GB" sz="2800" b="0" strike="noStrike" spc="-1" dirty="0">
              <a:latin typeface="Arial"/>
            </a:endParaRP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Objectives</a:t>
            </a:r>
            <a:endParaRPr lang="en-GB" sz="2800" b="0" strike="noStrike" spc="-1" dirty="0">
              <a:latin typeface="Arial"/>
            </a:endParaRP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Proposed System</a:t>
            </a: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spc="-1" dirty="0">
                <a:solidFill>
                  <a:srgbClr val="595959"/>
                </a:solidFill>
                <a:latin typeface="Arial"/>
              </a:rPr>
              <a:t>Design</a:t>
            </a: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</a:rPr>
              <a:t>Future Work</a:t>
            </a:r>
            <a:endParaRPr lang="en-GB" sz="2800" b="0" strike="noStrike" spc="-1" dirty="0">
              <a:latin typeface="Arial"/>
            </a:endParaRPr>
          </a:p>
          <a:p>
            <a:pPr marL="457200" indent="-406080"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References</a:t>
            </a:r>
            <a:endParaRPr lang="en-GB" sz="2800" b="0" strike="noStrike" spc="-1" dirty="0">
              <a:latin typeface="Arial"/>
            </a:endParaRPr>
          </a:p>
        </p:txBody>
      </p:sp>
      <p:pic>
        <p:nvPicPr>
          <p:cNvPr id="83" name="Google Shape;63;p14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Introduction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marL="285840" indent="-285480" algn="just">
              <a:lnSpc>
                <a:spcPct val="115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MockMate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AI is an AI-powered web-based platform designed to assist students in preparing effectively for campus placements.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15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This platform provides a voice-interactive, end-to-end preparation environment that simulates the actual placement experience.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15000"/>
              </a:lnSpc>
              <a:buClr>
                <a:srgbClr val="595959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The system uses voice-based interaction to create a realistic, hands-on experience.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28240" algn="just">
              <a:lnSpc>
                <a:spcPct val="115000"/>
              </a:lnSpc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70;p15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Scope of the Project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Customizable for company type, domain &amp; tech stack.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Simulates complete placement process (Aptitude to HR).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AI-driven technical &amp; HR interview mock sessions.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Real-time feedback &amp; performance analytics.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In-browser code editor with collaboration features.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User login, session tracking &amp; progress reports.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38180-089D-0BFD-2A70-16D59C922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-2715"/>
            <a:ext cx="116205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311760" y="2268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Literature Survey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Google Shape;83;p17"/>
          <p:cNvPicPr/>
          <p:nvPr/>
        </p:nvPicPr>
        <p:blipFill>
          <a:blip r:embed="rId2"/>
          <a:srcRect r="-10889"/>
          <a:stretch>
            <a:fillRect/>
          </a:stretch>
        </p:blipFill>
        <p:spPr>
          <a:xfrm>
            <a:off x="8096040" y="-10440"/>
            <a:ext cx="1162080" cy="894240"/>
          </a:xfrm>
          <a:prstGeom prst="rect">
            <a:avLst/>
          </a:prstGeom>
          <a:ln>
            <a:noFill/>
          </a:ln>
        </p:spPr>
      </p:pic>
      <p:sp>
        <p:nvSpPr>
          <p:cNvPr id="91" name="CustomShape 2"/>
          <p:cNvSpPr/>
          <p:nvPr/>
        </p:nvSpPr>
        <p:spPr>
          <a:xfrm>
            <a:off x="-176760" y="-761760"/>
            <a:ext cx="7918200" cy="11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92" name="Table 3"/>
          <p:cNvGraphicFramePr/>
          <p:nvPr/>
        </p:nvGraphicFramePr>
        <p:xfrm>
          <a:off x="135000" y="636840"/>
          <a:ext cx="8053200" cy="4304160"/>
        </p:xfrm>
        <a:graphic>
          <a:graphicData uri="http://schemas.openxmlformats.org/drawingml/2006/table">
            <a:tbl>
              <a:tblPr/>
              <a:tblGrid>
                <a:gridCol w="36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4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4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5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Sr. No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Paper Title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Author(s)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Publisher/Conference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Year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Algorithm Used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Pros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Cons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Results/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0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Output</a:t>
                      </a:r>
                      <a:endParaRPr lang="en-GB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AI-Based Interview Mocker System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Lokesh Jagtap, Suyash Rane, Rahul Dhonnar, Jyoti Pawar,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Umesh Bhadane.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IJARSCT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2025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LLM + NLP + Vision (eye contact, posture)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Personalized question sessions, real-time feedback, performance analytics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Require high computation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resources and high speed internet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Dashboard-based session metrics, NLP &amp; vision feedback integration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8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Adaptive Interview Strategy for Robots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Fuminori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Nagasawa, Shogo Okada,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Katsumi Nitta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, Takuya Ishihara.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IEEE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2024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Engagement-based adaptive question tree, multimodal sensing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Adaptive questioning, confidence/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hesitation detection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Complexity in implementing real-time multimodal sensing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Personalized real-time adjustment during interaction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Fairness-Aware Multimodal Learning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Changwoo Kim,  Woojin Lee, Jinho Choi,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Daehun Yoo, Jongyeon Yoon.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IEEE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2023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Audio + video fusion, adversarial training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Demographic fairness, multimodal scoring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Trade-off between accuracy and fairness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Advanced fairness-aware scoring analytics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TensorFlow-Based Automatic Personality Recognition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Hung-Yue Suen,</a:t>
                      </a:r>
                      <a:r>
                        <a:rPr lang="de-DE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Kuo-en Hung,  Chien-Liang Lin.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IEEE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2019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CNN + Big-Five Personality Prediction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Personality-based feedback, self-improving model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Requires labeled training data and iterative learning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Tailored question flow based on predicted traits</a:t>
                      </a:r>
                      <a:endParaRPr lang="en-GB" sz="9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BCBCBC"/>
                      </a:solidFill>
                    </a:lnL>
                    <a:lnR w="12240">
                      <a:solidFill>
                        <a:srgbClr val="BCBCBC"/>
                      </a:solidFill>
                    </a:lnR>
                    <a:lnT w="12240">
                      <a:solidFill>
                        <a:srgbClr val="BCBCBC"/>
                      </a:solidFill>
                    </a:lnT>
                    <a:lnB w="12240">
                      <a:solidFill>
                        <a:srgbClr val="BCBCB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  <a:ea typeface="Arial"/>
              </a:rPr>
              <a:t>AI-Based Interview Mocker System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81720" y="1117080"/>
            <a:ext cx="89557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Authors: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Lokesh Jagtap, Suyash Rane, Rahul 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Dhonnar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, Jyoti 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Pawar,Umesh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Bhadane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Publisher: IJARSCT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Algorithms used: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LLMs, NLP feedback, Computer Vision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Pros: 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Personalized questions, real-time feedback, analytic dashboard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Cons: H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igh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computation, needs stable internet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Results: 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Dynamic mock interviews with performance tracking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Google Shape;90;p18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Adaptive Interview Strategy for Robots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182160" y="111708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Authors: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Fuminori Nagasawa, Shogo Okada, Katsumi Nitta, Takuya Ishihara.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Publisher: IEEE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Algorithms used: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Multimodal sensing, engagement-driven tree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Pros: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Adaptive flow, detects confidence/hesitation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Cons: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Complex real-time sensing integration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Results: 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Real-time adjustment based on user engagement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Google Shape;97;p19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  <a:ea typeface="Arial"/>
              </a:rPr>
              <a:t>Fairness-Aware Multimodal Learning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182160" y="111708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Authors: 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Changwoo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Kim,  Woojin Lee, Jinho Choi, 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Daehun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Yoo, 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Jongyeon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Yoon.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Publisher: IEEE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Algorithms used: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Audio-video fusion, adversarial training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Pros: 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Fairness, joint optimization, unbiased scoring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Cons: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Trade-off with accuracy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Results: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Demographic-fair scoring system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Google Shape;104;p20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-171360" y="447480"/>
            <a:ext cx="873396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  <a:ea typeface="Arial"/>
              </a:rPr>
              <a:t>TensorFlow-Based Automatic Personality Recognition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182160" y="111708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15000"/>
              </a:lnSpc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Authors: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Hung-Yue Suen,</a:t>
            </a:r>
            <a:r>
              <a:rPr lang="de-DE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Kuo-en Hung,  Chien-Liang Lin.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Publisher: IEEE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Algorithms used: 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CNN, Big-Five prediction, self-training loop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Pros: 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Personality-based feedback, adaptive questioning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Cons: 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Needs labeled data, retraining for context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Results: 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Tailored sessions based on inferred traits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11;p21"/>
          <p:cNvPicPr/>
          <p:nvPr/>
        </p:nvPicPr>
        <p:blipFill>
          <a:blip r:embed="rId2"/>
          <a:srcRect l="18145" r="12763"/>
          <a:stretch>
            <a:fillRect/>
          </a:stretch>
        </p:blipFill>
        <p:spPr>
          <a:xfrm>
            <a:off x="8300835" y="360"/>
            <a:ext cx="802889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Research Gap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marL="285840" indent="-285480"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595959"/>
                </a:solidFill>
                <a:latin typeface="Arial"/>
                <a:ea typeface="Arial"/>
              </a:rPr>
              <a:t>No unified platform</a:t>
            </a: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simulates the full placement process (aptitude → coding → technical → HR).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Existing systems lack end-to-end personalization across all interview stages.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Minimal use of AI voice assistants for realistic, dynamic interview interactions.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No support for collaborative learning (e.g., peer code sharing or competitions).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Feedback loops are fragmented – rarely combining NLP, coding, and behavioral analysis.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Aft>
                <a:spcPts val="1199"/>
              </a:spcAft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Google Shape;132;p24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Problem Statement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311760" y="1836301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marL="114480" algn="just">
              <a:lnSpc>
                <a:spcPct val="115000"/>
              </a:lnSpc>
              <a:buClr>
                <a:srgbClr val="595959"/>
              </a:buClr>
            </a:pPr>
            <a:r>
              <a:rPr lang="en-US" b="1" dirty="0">
                <a:solidFill>
                  <a:srgbClr val="595959"/>
                </a:solidFill>
              </a:rPr>
              <a:t>"To bridge the gap between students’ knowledge and their performance in real-world campus placement interviews by providing an AI-powered, voice-interactive mock placement simulator with personalized guidance and feedback."</a:t>
            </a:r>
            <a:endParaRPr lang="en-GB" sz="1800" b="1" strike="noStrike" spc="-1" dirty="0">
              <a:solidFill>
                <a:srgbClr val="595959"/>
              </a:solidFill>
              <a:latin typeface="Arial"/>
            </a:endParaRPr>
          </a:p>
        </p:txBody>
      </p:sp>
      <p:pic>
        <p:nvPicPr>
          <p:cNvPr id="110" name="Google Shape;139;p25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Objectives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marL="285840" indent="-285480" algn="just">
              <a:lnSpc>
                <a:spcPct val="115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Provide a guided, end-to-end mock placement experience.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15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Leverage AI (voice &amp; LLM) for personalized question sessions.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15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Offer real-time feedback and performance analytic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 algn="just">
              <a:lnSpc>
                <a:spcPct val="115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Enable collaborative practice through shareable coding challenges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28240" algn="just">
              <a:lnSpc>
                <a:spcPct val="115000"/>
              </a:lnSpc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Google Shape;146;p26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793440" y="16092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                      Proposed System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320040" y="89460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 complete mock placement simulator covering Aptitude, Coding, Technical, and HR interview rounds.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AI-powered voice assistant generates personalized questions based on domain, target company, and skills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Real-time feedback on spoken and written responses, including grammar, confidence, and content quality.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Performance analytic dashboard provides strengths, improvement areas, and suggested model answers.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buClr>
                <a:srgbClr val="595959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Enables collaborative learning through shareable coding challenges and peer practice sessions.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Google Shape;153;p27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53;p27">
            <a:extLst>
              <a:ext uri="{FF2B5EF4-FFF2-40B4-BE49-F238E27FC236}">
                <a16:creationId xmlns:a16="http://schemas.microsoft.com/office/drawing/2014/main" id="{6F76B958-E8CE-2E39-C200-8836ECDB4E9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  <p:sp>
        <p:nvSpPr>
          <p:cNvPr id="10" name="TextShape 1">
            <a:extLst>
              <a:ext uri="{FF2B5EF4-FFF2-40B4-BE49-F238E27FC236}">
                <a16:creationId xmlns:a16="http://schemas.microsoft.com/office/drawing/2014/main" id="{5F4512CA-9A24-8595-28C8-476DFF33D179}"/>
              </a:ext>
            </a:extLst>
          </p:cNvPr>
          <p:cNvSpPr txBox="1"/>
          <p:nvPr/>
        </p:nvSpPr>
        <p:spPr>
          <a:xfrm>
            <a:off x="311940" y="16092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 Architecture / Flowchart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A407F49-4568-1B5E-BEDD-86E4BCD7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872" y="733320"/>
            <a:ext cx="3865757" cy="424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0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327960" y="16092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CO PO PSO Mapping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Google Shape;160;p28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  <p:graphicFrame>
        <p:nvGraphicFramePr>
          <p:cNvPr id="120" name="Table 3"/>
          <p:cNvGraphicFramePr/>
          <p:nvPr>
            <p:extLst>
              <p:ext uri="{D42A27DB-BD31-4B8C-83A1-F6EECF244321}">
                <p14:modId xmlns:p14="http://schemas.microsoft.com/office/powerpoint/2010/main" val="3960952323"/>
              </p:ext>
            </p:extLst>
          </p:nvPr>
        </p:nvGraphicFramePr>
        <p:xfrm>
          <a:off x="620640" y="710280"/>
          <a:ext cx="7483320" cy="4098240"/>
        </p:xfrm>
        <a:graphic>
          <a:graphicData uri="http://schemas.openxmlformats.org/drawingml/2006/table">
            <a:tbl>
              <a:tblPr/>
              <a:tblGrid>
                <a:gridCol w="52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9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8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98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0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09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8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5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03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0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9080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12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4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12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PO4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PO5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56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PO6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08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PO7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0480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PO8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08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PO9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96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PO10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7160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PO11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PO12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976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PSO1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0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PSO2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4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0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8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2960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 dirty="0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0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4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8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88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4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4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2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88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CO4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4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0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12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88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CO5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40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884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CO6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4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752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4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8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000" algn="ctr">
                        <a:lnSpc>
                          <a:spcPct val="100000"/>
                        </a:lnSpc>
                        <a:spcBef>
                          <a:spcPts val="1191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CO7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2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08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864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60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00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CO8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2960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00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08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060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896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00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26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CO9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08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lang="en-GB" sz="9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000" algn="ctr">
                        <a:lnSpc>
                          <a:spcPct val="100000"/>
                        </a:lnSpc>
                        <a:spcBef>
                          <a:spcPts val="1199"/>
                        </a:spcBef>
                      </a:pPr>
                      <a:r>
                        <a:rPr lang="en-US" sz="900" b="0" strike="noStrike" spc="-52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lang="en-GB" sz="900" b="0" strike="noStrike" spc="-1" dirty="0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3C5A8D59-EAC9-A968-0C4C-E7D38EF5040F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Design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95148-EA0C-0180-C1F9-0A418FBF0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F6171D-7007-0411-FB65-38C27581E7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54" y="733875"/>
            <a:ext cx="6837092" cy="424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25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A2315D7-ED03-82F3-1D14-A3F606785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595" y="128052"/>
            <a:ext cx="6078809" cy="488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2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0DFB3089-BF57-2AE5-27B3-7B45F5C53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18" y="337864"/>
            <a:ext cx="8118382" cy="418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3590574-1B5D-B912-EC49-37AFF625A9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04" y="560889"/>
            <a:ext cx="7805855" cy="405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94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39134-092F-81D1-6DAC-E58882331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sp>
        <p:nvSpPr>
          <p:cNvPr id="8" name="TextShape 1">
            <a:extLst>
              <a:ext uri="{FF2B5EF4-FFF2-40B4-BE49-F238E27FC236}">
                <a16:creationId xmlns:a16="http://schemas.microsoft.com/office/drawing/2014/main" id="{13A8EEC6-2439-8564-0B3A-854251A775F6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DFD Level 0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4CAE41E-C849-0D66-E5BF-74A33F70A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333" y="895350"/>
            <a:ext cx="4967334" cy="318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645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C20AAE8E-5DC8-1063-0817-EEF19BEC181A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DFD Level 1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8A7997-7426-9FBA-23C4-06A89B7FF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E72E2A75-EB2C-182D-0218-7016D8AF5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054" y="571964"/>
            <a:ext cx="5866413" cy="456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658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962C2AF2-64A2-AAB7-DB1D-F24D0B8783BC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DFD Level 2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5A668-9FA7-0211-3546-955E6F51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BDC6C4DA-F79F-3A57-A5F6-D501E60C3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02" y="590550"/>
            <a:ext cx="8897596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776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8A3058-4F2D-91B0-9745-299CB6BE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82C87D49-4112-E7AE-4A81-5B0E2C54AF5D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UML Digrams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3F918B3-9023-B06D-DAAF-4288042071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00"/>
          <a:stretch>
            <a:fillRect/>
          </a:stretch>
        </p:blipFill>
        <p:spPr bwMode="auto">
          <a:xfrm>
            <a:off x="419580" y="471380"/>
            <a:ext cx="2537460" cy="451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ECCF03A-DEB2-8BF4-B556-E759F3FC8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29"/>
          <a:stretch>
            <a:fillRect/>
          </a:stretch>
        </p:blipFill>
        <p:spPr bwMode="auto">
          <a:xfrm>
            <a:off x="3619500" y="895350"/>
            <a:ext cx="4197667" cy="340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896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DCD896-D4B5-014B-B709-0051D709F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945871F2-68A4-1ED6-5534-AC2F5AC77C44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Class Digrams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BA826C0-3099-1F56-7D92-F2BB30A45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7" b="24119"/>
          <a:stretch>
            <a:fillRect/>
          </a:stretch>
        </p:blipFill>
        <p:spPr bwMode="auto">
          <a:xfrm>
            <a:off x="1873269" y="512510"/>
            <a:ext cx="5397462" cy="463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614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0A7C6E41-C505-8D31-673E-ABA0C6F0048B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Activity Digrams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AEDF4-3406-E448-963E-159275147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9CD140C7-9800-AECC-7E8D-29C20BE79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92873"/>
            <a:ext cx="2215367" cy="446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096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1">
            <a:extLst>
              <a:ext uri="{FF2B5EF4-FFF2-40B4-BE49-F238E27FC236}">
                <a16:creationId xmlns:a16="http://schemas.microsoft.com/office/drawing/2014/main" id="{5164D755-3288-571A-23E1-0855657CE57C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Sequence Digrams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7818FD-D27B-063D-2ACF-45228876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3309802-0CD1-A232-9DDA-674D5B45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144" y="644451"/>
            <a:ext cx="3785711" cy="426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43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720E1EEE-787D-F938-7D93-E310214FE835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Use Case Digrams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11270-2138-BB91-60FD-950DCB563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FA6EBEA-7A91-D086-2DC8-ADD8F107FE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29"/>
          <a:stretch>
            <a:fillRect/>
          </a:stretch>
        </p:blipFill>
        <p:spPr bwMode="auto">
          <a:xfrm>
            <a:off x="1731881" y="566519"/>
            <a:ext cx="5045393" cy="447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243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Softwares</a:t>
            </a:r>
            <a:r>
              <a:rPr lang="en" sz="2800" spc="-1" dirty="0">
                <a:solidFill>
                  <a:srgbClr val="000000"/>
                </a:solidFill>
                <a:latin typeface="Arial"/>
                <a:ea typeface="Arial"/>
              </a:rPr>
              <a:t> U</a:t>
            </a:r>
            <a:r>
              <a:rPr lang="en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sed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1" strike="noStrike" spc="-1" dirty="0">
                <a:solidFill>
                  <a:srgbClr val="595959"/>
                </a:solidFill>
                <a:latin typeface="Arial"/>
                <a:ea typeface="Arial"/>
              </a:rPr>
              <a:t>Frontend: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HTML, CSS, JavaScript </a:t>
            </a:r>
            <a:r>
              <a:rPr lang="en-IN" sz="1800" b="0" i="1" strike="noStrike" spc="-1" dirty="0">
                <a:solidFill>
                  <a:srgbClr val="595959"/>
                </a:solidFill>
                <a:latin typeface="Arial"/>
                <a:ea typeface="Arial"/>
              </a:rPr>
              <a:t>(React or Plain JS)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1" strike="noStrike" spc="-1" dirty="0">
                <a:solidFill>
                  <a:srgbClr val="595959"/>
                </a:solidFill>
                <a:latin typeface="Arial"/>
                <a:ea typeface="Arial"/>
              </a:rPr>
              <a:t>Backend: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Node.js (Express) / Python (Flask or Django)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1" strike="noStrike" spc="-1" dirty="0">
                <a:solidFill>
                  <a:srgbClr val="595959"/>
                </a:solidFill>
                <a:latin typeface="Arial"/>
                <a:ea typeface="Arial"/>
              </a:rPr>
              <a:t>Database: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MongoDB / Firebase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1" strike="noStrike" spc="-1" dirty="0">
                <a:solidFill>
                  <a:srgbClr val="595959"/>
                </a:solidFill>
                <a:latin typeface="Arial"/>
                <a:ea typeface="Arial"/>
              </a:rPr>
              <a:t>AI Tools: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Google Gemini API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1" strike="noStrike" spc="-1" dirty="0">
                <a:solidFill>
                  <a:srgbClr val="595959"/>
                </a:solidFill>
                <a:latin typeface="Arial"/>
                <a:ea typeface="Arial"/>
              </a:rPr>
              <a:t>Code Editor: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Visual Studio Code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1" strike="noStrike" spc="-1" dirty="0">
                <a:solidFill>
                  <a:srgbClr val="595959"/>
                </a:solidFill>
                <a:latin typeface="Arial"/>
                <a:ea typeface="Arial"/>
              </a:rPr>
              <a:t>Authentication: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Firebase Auth / OAuth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1" strike="noStrike" spc="-1" dirty="0">
                <a:solidFill>
                  <a:srgbClr val="595959"/>
                </a:solidFill>
                <a:latin typeface="Arial"/>
                <a:ea typeface="Arial"/>
              </a:rPr>
              <a:t>Deployment: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</a:t>
            </a:r>
            <a:r>
              <a:rPr lang="en-IN" sz="18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Vercel</a:t>
            </a:r>
            <a:r>
              <a:rPr lang="en-IN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/ Render</a:t>
            </a: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b="1" spc="-1" dirty="0">
                <a:solidFill>
                  <a:srgbClr val="595959"/>
                </a:solidFill>
                <a:latin typeface="Arial"/>
              </a:rPr>
              <a:t>Hardware: </a:t>
            </a:r>
            <a:r>
              <a:rPr lang="en-IN" spc="-1" dirty="0">
                <a:solidFill>
                  <a:srgbClr val="595959"/>
                </a:solidFill>
                <a:latin typeface="Arial"/>
              </a:rPr>
              <a:t>No Hardware Required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Google Shape;167;p29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FB0A7479-067A-6EB0-B0CE-55B5A2203532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Future Work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D37F7-E90F-87FC-C605-7DDFAF400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0"/>
            <a:ext cx="1162050" cy="89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27673-EF9B-5FDE-2049-B46DB93747BF}"/>
              </a:ext>
            </a:extLst>
          </p:cNvPr>
          <p:cNvSpPr txBox="1"/>
          <p:nvPr/>
        </p:nvSpPr>
        <p:spPr>
          <a:xfrm>
            <a:off x="2286000" y="946833"/>
            <a:ext cx="457200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64B4BD3-A7A4-67C8-516A-D54378E7A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8" y="898602"/>
            <a:ext cx="7880784" cy="325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342720" algn="just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/>
              <a:buChar char="●"/>
              <a:tabLst/>
            </a:pPr>
            <a:r>
              <a:rPr lang="en-US" altLang="en-US" b="1" spc="-1" dirty="0">
                <a:solidFill>
                  <a:srgbClr val="595959"/>
                </a:solidFill>
                <a:latin typeface="Arial"/>
              </a:rPr>
              <a:t>Integration of Advanced AI Models – </a:t>
            </a:r>
            <a:r>
              <a:rPr lang="en-US" altLang="en-US" spc="-1" dirty="0">
                <a:solidFill>
                  <a:srgbClr val="595959"/>
                </a:solidFill>
                <a:latin typeface="Arial"/>
              </a:rPr>
              <a:t>Incorporate more powerful LLMs and multimodal AI for deeper analysis of voice, expressions, and coding style.</a:t>
            </a:r>
          </a:p>
          <a:p>
            <a:pPr marL="457200" marR="0" lvl="0" indent="-342720" algn="just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/>
              <a:buChar char="●"/>
              <a:tabLst/>
            </a:pPr>
            <a:r>
              <a:rPr lang="en-US" altLang="en-US" b="1" spc="-1" dirty="0">
                <a:solidFill>
                  <a:srgbClr val="595959"/>
                </a:solidFill>
                <a:latin typeface="Arial"/>
              </a:rPr>
              <a:t>Gamification &amp; Leaderboards – </a:t>
            </a:r>
            <a:r>
              <a:rPr lang="en-US" altLang="en-US" spc="-1" dirty="0">
                <a:solidFill>
                  <a:srgbClr val="595959"/>
                </a:solidFill>
                <a:latin typeface="Arial"/>
              </a:rPr>
              <a:t>Add competitive elements like leaderboards, badges and rewards to motivate students.</a:t>
            </a:r>
          </a:p>
          <a:p>
            <a:pPr marL="457200" marR="0" lvl="0" indent="-342720" algn="just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/>
              <a:buChar char="●"/>
              <a:tabLst/>
            </a:pPr>
            <a:r>
              <a:rPr lang="en-US" altLang="en-US" b="1" spc="-1" dirty="0">
                <a:solidFill>
                  <a:srgbClr val="595959"/>
                </a:solidFill>
                <a:latin typeface="Arial"/>
              </a:rPr>
              <a:t>Mobile Application Development – </a:t>
            </a:r>
            <a:r>
              <a:rPr lang="en-US" altLang="en-US" spc="-1" dirty="0">
                <a:solidFill>
                  <a:srgbClr val="595959"/>
                </a:solidFill>
                <a:latin typeface="Arial"/>
              </a:rPr>
              <a:t>Extend the platform to Android for on-the-go placement preparation.</a:t>
            </a:r>
          </a:p>
          <a:p>
            <a:pPr marL="457200" marR="0" lvl="0" indent="-342720" algn="just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595959"/>
              </a:buClr>
              <a:buSzTx/>
              <a:buFont typeface="Arial"/>
              <a:buChar char="●"/>
              <a:tabLst/>
            </a:pPr>
            <a:r>
              <a:rPr lang="en-US" altLang="en-US" b="1" spc="-1" dirty="0">
                <a:solidFill>
                  <a:srgbClr val="595959"/>
                </a:solidFill>
                <a:latin typeface="Arial"/>
              </a:rPr>
              <a:t>Integration with Career Platforms – </a:t>
            </a:r>
            <a:r>
              <a:rPr lang="en-US" altLang="en-US" spc="-1" dirty="0">
                <a:solidFill>
                  <a:srgbClr val="595959"/>
                </a:solidFill>
                <a:latin typeface="Arial"/>
              </a:rPr>
              <a:t>Connect with LinkedIn, Naukri, or college placement cells to directly showcase student performance and readiness.</a:t>
            </a:r>
          </a:p>
        </p:txBody>
      </p:sp>
    </p:spTree>
    <p:extLst>
      <p:ext uri="{BB962C8B-B14F-4D97-AF65-F5344CB8AC3E}">
        <p14:creationId xmlns:p14="http://schemas.microsoft.com/office/powerpoint/2010/main" val="3866768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6B6FFF4E-CEDA-EF10-4FA8-8B83DCB36A36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Month Wise Gantt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457E8-6789-D638-7FF2-3F04177F3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73" t="7472" r="21137" b="11988"/>
          <a:stretch>
            <a:fillRect/>
          </a:stretch>
        </p:blipFill>
        <p:spPr>
          <a:xfrm>
            <a:off x="8460351" y="-1214"/>
            <a:ext cx="631610" cy="6384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184" y="863202"/>
            <a:ext cx="6515565" cy="428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342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E6816887-0AC6-2079-B179-B57690E995F8}"/>
              </a:ext>
            </a:extLst>
          </p:cNvPr>
          <p:cNvSpPr txBox="1"/>
          <p:nvPr/>
        </p:nvSpPr>
        <p:spPr>
          <a:xfrm>
            <a:off x="311940" y="16147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spc="-1" dirty="0">
                <a:solidFill>
                  <a:srgbClr val="000000"/>
                </a:solidFill>
                <a:latin typeface="Arial"/>
              </a:rPr>
              <a:t>Week Wise Gantt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276F4-02C4-E5F1-4A19-78403EEF5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73" t="7472" r="21137" b="11988"/>
          <a:stretch>
            <a:fillRect/>
          </a:stretch>
        </p:blipFill>
        <p:spPr>
          <a:xfrm>
            <a:off x="8460351" y="-1214"/>
            <a:ext cx="631610" cy="63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03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References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 lnSpcReduction="10000"/>
          </a:bodyPr>
          <a:lstStyle/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[1] L. Jagtap, S. Rane, R. Dhonnar, J. Pawar, and U. Bhadane, “AI-Based Interview Mocker System,” </a:t>
            </a:r>
            <a:r>
              <a:rPr lang="en-IN" sz="1800" b="0" i="1" strike="noStrike" spc="-1">
                <a:solidFill>
                  <a:srgbClr val="595959"/>
                </a:solidFill>
                <a:latin typeface="Arial"/>
                <a:ea typeface="Arial"/>
              </a:rPr>
              <a:t>(IJARSCT)</a:t>
            </a: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, 2025.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15000"/>
              </a:lnSpc>
              <a:tabLst>
                <a:tab pos="0" algn="l"/>
              </a:tabLst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pos="0" algn="l"/>
              </a:tabLst>
            </a:pP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[2] F. Nagasawa, S. Okada, K. Nitta, and T. Ishihara, “Adaptive Interview Strategy for Robots,” </a:t>
            </a:r>
            <a:r>
              <a:rPr lang="en-IN" sz="1800" b="0" i="1" strike="noStrike" spc="-1">
                <a:solidFill>
                  <a:srgbClr val="595959"/>
                </a:solidFill>
                <a:latin typeface="Arial"/>
                <a:ea typeface="Arial"/>
              </a:rPr>
              <a:t>IEEE</a:t>
            </a: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, 2024.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15000"/>
              </a:lnSpc>
              <a:tabLst>
                <a:tab pos="0" algn="l"/>
              </a:tabLst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pos="0" algn="l"/>
              </a:tabLst>
            </a:pP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[3] C. Kim, W. Lee, J. Choi, D. Yoo, and J. Yoon, “Fairness-Aware Multimodal Learning,” </a:t>
            </a:r>
            <a:r>
              <a:rPr lang="en-IN" sz="1800" b="0" i="1" strike="noStrike" spc="-1">
                <a:solidFill>
                  <a:srgbClr val="595959"/>
                </a:solidFill>
                <a:latin typeface="Arial"/>
                <a:ea typeface="Arial"/>
              </a:rPr>
              <a:t>IEEE</a:t>
            </a: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, 2023.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15000"/>
              </a:lnSpc>
              <a:tabLst>
                <a:tab pos="0" algn="l"/>
              </a:tabLst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Arial"/>
              <a:buChar char="●"/>
              <a:tabLst>
                <a:tab pos="0" algn="l"/>
              </a:tabLst>
            </a:pP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[4] H.-Y. Suen, K. Hung, and C.-L. Lin, “TensorFlow-Based Automatic Personality Recognition,” </a:t>
            </a:r>
            <a:r>
              <a:rPr lang="en-IN" sz="1800" b="0" i="1" strike="noStrike" spc="-1">
                <a:solidFill>
                  <a:srgbClr val="595959"/>
                </a:solidFill>
                <a:latin typeface="Arial"/>
                <a:ea typeface="Arial"/>
              </a:rPr>
              <a:t>IEEE</a:t>
            </a:r>
            <a:r>
              <a:rPr lang="en-IN" sz="1800" b="0" strike="noStrike" spc="-1">
                <a:solidFill>
                  <a:srgbClr val="595959"/>
                </a:solidFill>
                <a:latin typeface="Arial"/>
                <a:ea typeface="Arial"/>
              </a:rPr>
              <a:t>, 2019.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Google Shape;174;p30"/>
          <p:cNvPicPr/>
          <p:nvPr/>
        </p:nvPicPr>
        <p:blipFill>
          <a:blip r:embed="rId2"/>
          <a:stretch/>
        </p:blipFill>
        <p:spPr>
          <a:xfrm>
            <a:off x="7981560" y="0"/>
            <a:ext cx="1162080" cy="8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lstStyle/>
          <a:p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r>
              <a:rPr lang="en" sz="4000" b="0" strike="noStrike" spc="-1">
                <a:solidFill>
                  <a:srgbClr val="000000"/>
                </a:solidFill>
                <a:latin typeface="Arial"/>
                <a:ea typeface="Arial"/>
              </a:rPr>
              <a:t>Thank You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1262</Words>
  <Application>Microsoft Office PowerPoint</Application>
  <PresentationFormat>On-screen Show (16:9)</PresentationFormat>
  <Paragraphs>340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Gelasio Semi Bold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MockMate AI</dc:title>
  <dc:subject/>
  <dc:creator>Altamash Chougle</dc:creator>
  <dc:description/>
  <cp:lastModifiedBy>ATHARVA HARANE</cp:lastModifiedBy>
  <cp:revision>19</cp:revision>
  <dcterms:modified xsi:type="dcterms:W3CDTF">2025-09-13T07:36:17Z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17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